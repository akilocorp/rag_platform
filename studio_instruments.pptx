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880360"/>
            <a:ext cx="548640" cy="54864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lus Jakarta Sans"/>
              </a:rPr>
              <a:t>Studio Blocks &amp;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C8C8"/>
                </a:solidFill>
                <a:latin typeface="Plus Jakarta Sans"/>
              </a:rPr>
              <a:t>What each piece does, and where a researcher would actually reach for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6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lus Jakarta Sans"/>
              </a:rPr>
              <a:t>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E9DF"/>
                </a:solidFill>
                <a:latin typeface="Plus Jakarta Sans"/>
              </a:rPr>
              <a:t>12 blocks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Simple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The four no-frills question/content types — same use-case logic every survey tool has</a:t>
            </a:r>
          </a:p>
        </p:txBody>
      </p:sp>
      <p:pic>
        <p:nvPicPr>
          <p:cNvPr id="6" name="Picture 5" descr="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1188720" cy="1188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Plus Jakarta Sans"/>
              </a:rPr>
              <a:t>Short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1F1F1F"/>
                </a:solidFill>
                <a:latin typeface="Plus Jakarta Sans"/>
              </a:rPr>
              <a:t>One-line answers: name, job title, a quick reaction</a:t>
            </a:r>
          </a:p>
        </p:txBody>
      </p:sp>
      <p:pic>
        <p:nvPicPr>
          <p:cNvPr id="9" name="Picture 8" descr="para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011680"/>
            <a:ext cx="1188720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91839" y="3337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Plus Jakarta Sans"/>
              </a:rPr>
              <a:t>Long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3794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1F1F1F"/>
                </a:solidFill>
                <a:latin typeface="Plus Jakarta Sans"/>
              </a:rPr>
              <a:t>Open-ended responses: “describe a time when…”</a:t>
            </a:r>
          </a:p>
        </p:txBody>
      </p:sp>
      <p:pic>
        <p:nvPicPr>
          <p:cNvPr id="12" name="Picture 11" descr="tog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011680"/>
            <a:ext cx="1188720" cy="1188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0760" y="3337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Plus Jakarta Sans"/>
              </a:rPr>
              <a:t>Yes /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794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1F1F1F"/>
                </a:solidFill>
                <a:latin typeface="Plus Jakarta Sans"/>
              </a:rPr>
              <a:t>Binary screening: “Have you used this product before?”</a:t>
            </a:r>
          </a:p>
        </p:txBody>
      </p:sp>
      <p:pic>
        <p:nvPicPr>
          <p:cNvPr id="15" name="Picture 14" descr="align-le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2011680"/>
            <a:ext cx="1188720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69680" y="33375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1F1F"/>
                </a:solidFill>
                <a:latin typeface="Plus Jakarta Sans"/>
              </a:rPr>
              <a:t>Instructions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79476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1F1F1F"/>
                </a:solidFill>
                <a:latin typeface="Plus Jakarta Sans"/>
              </a:rPr>
              <a:t>Content-only — consent text, task briefings, section headers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Single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One answer from a fixed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customer-satisfaction survey asks “How would you rate your visit?” with 5 options — exactly one applies.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Radio buttons, pick exactly one 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Pairs well with Option Randomizer to control for order effects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Rating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A 1-to-N Likert rating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course-evaluation form asks students to rate “instructor clarity” from 1 to 5 after each module.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Integer rating, 1 through a configurable scale_max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Unipolar — no inherent direction, just intensity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Semantic Differential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A bipolar adjective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brand-perception study asks respondents to place a logo redesign somewhere between “Outdated” and “Modern.”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Bipolar scale between two professor-defined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More diagnostic than a plain rating when the construct has a clear opposite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Forced Rank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Order every option, no 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An HR compensation study asks employees to rank 4 benefits (health, PTO, remote work, bonus) from most to least valued.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Reorder via up/down buttons — every option gets a distinct rank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Forces tradeoffs a rating scale would let respondents dodge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Constant 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Allocate a fixed budget across options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marketing study asks respondents to split 100 points across TV, social, and search ads to reflect where they'd actually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N number inputs that should sum to a target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Running total shown live; not hard-enforced — a respondent can still submit unbalanced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x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MaxDiff (Best/Worst)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Multi-round best/worst tradeoffs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product team shows respondents rotating subsets of 12 candidate features, asking “most” and “least” appealing each round — classic conjoint-style tradeoff research.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Auto-advances to the next round after both picks land, animated like the facilitator chat's flashcard widget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Each round is an independently-sampled subset, not a full balanced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   |   config: subset_size, num_rounds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-la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Card Sort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Sort items into categories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UX team sorts 15 website menu items into categories to inform navigation design — or lets respondents invent their own categories (open sort).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Closed sort: dropdown from professor-defined categories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Open sort (no categories defined): respondent free-types their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icro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Voice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A live spoken exchange with an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communications class runs a mock sales pitch or interview entirely by voice, and the full transcript becomes the response for later scoring.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Real-time voice via Hume EVI, reused wholesale from the platform's existing chat voice 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Transcript captured as the block's answer — the entry point for the AI-native instruments below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block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6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lus Jakarta Sans"/>
              </a:rPr>
              <a:t>Data Quality /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E9DF"/>
                </a:solidFill>
                <a:latin typeface="Plus Jakarta Sans"/>
              </a:rPr>
              <a:t>6 instruments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Attention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Screen out careless respondents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50-item panel survey embeds one “select Disagree to continue” item to filter bots and inattentive clickers before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Flags (never blocks) whether an answer matches an expected trap 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Shows up only afterward, as a pass/fail column in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behavior   |   applies to: Single Choice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pboard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Instructed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A compliance check that doesn't stand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Inside a 20-item Likert battery on job satisfaction, one item's text auto-appends “please select Strongly Agree” — invisible until the respondent misses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Appends a compliance sentence to an existing question rather than adding a new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Same never-blocks, flag-only contract as Attention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behavior   |   applies to: Single Choice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cho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Speeder Flag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Catch respondents rushing 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An MTurk study flags anyone who finishes a 10-minute survey in under 90 seconds, without blocking their submission.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Measurement only — never gates Submit, unlike Read-Time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Reads the same shown/submit timestamps Reaction Timer captures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   |   config: threshold_seconds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Read-Time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Force a minimum dwell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consent page requires at least 15 seconds on screen before “Continue” becomes clickable, so respondents can't blow past the terms.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Disables Submit until N seconds have elapsed, with a live countdown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Enforced client-side — a forged client only pollutes that respondent's own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behavior   |   applies to: any block   |   config: seconds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uff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Option Randomizer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Control for order effects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hiring-preference study rotates candidate order per respondent so “listed first” doesn't quietly win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Shuffles a Single Choice block's options, seeded per respondent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Stable across reloads for one respondent, different across respondents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behavior   |   applies to: Single Choice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Subset Randomizer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Shorten the survey without shrinking the catalog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product-testing survey has 12 candidate images but only shows each respondent 4, so the study stays quick while the full sample still covers all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Shows only a configurable count of options, picked per respondent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Stacks with Option Randomizer — subset first, then reorder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behavior   |   applies to: Single Choice   |   config: count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6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lus Jakarta Sans"/>
              </a:rP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E9DF"/>
                </a:solidFill>
                <a:latin typeface="Plus Jakarta Sans"/>
              </a:rPr>
              <a:t>3 instruments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Confidence Slider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Capture certainty, not just the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quiz platform asks students to rate how sure they are of each answer — a 90-year-old assessment-psychology signal, decoupled from correctness.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0–100 rating alongside any block's own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The template every other “secondary value” instrument in Studio follows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op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Reaction Timer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Latency as an implicit signal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brand-perception study times how long respondents take to react to each logo — faster reactions often signal stronger implicit associations.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Milliseconds from block shown to block 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The flagship instrument that proved out Studio's whole plugin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Piped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Carry an earlier answer forward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respondent names their biggest work frustration in Q3; Q7 opens with “You mentioned ‘&lt;that answer&gt;’ — tell us more.”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Prefixes a block's question with a sibling block's live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A no-op until that sibling is actually answered — nothing to pipe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behavior   |   applies to: any block   |   config: source block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6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lus Jakarta Sans"/>
              </a:rPr>
              <a:t>AI-Native — Free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E9DF"/>
                </a:solidFill>
                <a:latin typeface="Plus Jakarta Sans"/>
              </a:rPr>
              <a:t>3 instruments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Vocal Emotion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The respondent's dominant emotion, for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sales-training exercise surfaces the dominant emotion expressed during a mock pitch — no extra cost, the voice engine already captured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Averages Hume's per-turn prosody scores across a voice conversation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Zero new API calls — a summary of data already captured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Voice Conversation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Sentiment-Drift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How the mood moved, not just where it landed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support-call roleplay shows whether a simulated customer's frustration eased or intensified over the course of the conversation.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Tracks the dominant emotion's intensity from the first turn to the last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A trend, not a snapshot — Vocal Emotion Trace's 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Voice Conversation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ent-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Hesitation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Filler words as an uncertainty proxy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An oral-exam simulation flags students with unusually high “um”/“like” rates as a soft signal of uncertainty worth a closer listen.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Plain filler-word regex over the transcript — not an LLM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Marked AI because it's tied to the voice modality, same framing as Voice Conversation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Voice Conversation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6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lus Jakarta Sans"/>
              </a:rPr>
              <a:t>AI-Native — Tier 2 (results-time)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E9DF"/>
                </a:solidFill>
                <a:latin typeface="Plus Jakarta Sans"/>
              </a:rPr>
              <a:t>2 instruments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duation-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LLM Rubric Grader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Grade 200 short answers without grading 200 short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TA writes a 3-line rubric once; Claude scores every student's open-text response against it when results are opened.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Runs owner-side, at results-view time — not during the respondent's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Cached on the response so re-opening results never re-bills the same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Short Text, Long Text   |   model: Claude Haiku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t-e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Cross-Answer Inconsistency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Catch respondents contradicting themselves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diet-habits survey flags a respondent who said they “never eat fast food” in Q2, then listed a fast-food order as their favorite meal in Q9.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Flags contradictions against a chosen sibling block's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Same sibling-picker UX as Piped Text; also cached after first computation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   |   model: Claude Haiku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6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Plus Jakarta Sans"/>
              </a:rPr>
              <a:t>AI-Native — Tier 3 (live, mid-session)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E9DF"/>
                </a:solidFill>
                <a:latin typeface="Plus Jakarta Sans"/>
              </a:rPr>
              <a:t>3 instruments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estion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Comprehension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Confirm they understood the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In an ESL research study, respondents paraphrase a complex question in their own words, and Claude scores how faithfully they captured it —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Feedback shown immediately; never blocks Submit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Calls the rate-limited /ai-instrument endpoint during the respondent's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   |   calls: /ai-instrument, live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AI Devil's Advocate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Pressure-test a stated opinion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political-attitudes study has Claude push back once on a respondent's stated policy view, then captures how their confidence shifted.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One-shot, respectful counterargument generated live from what the respondent actually said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Captures a post-rebuttal confidence rating on the same slider as Confidence Slider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   |   calls: /ai-instrument, live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A6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-p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502920"/>
            <a:ext cx="8412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1F1F"/>
                </a:solidFill>
                <a:latin typeface="Plus Jakarta Sans"/>
              </a:rPr>
              <a:t>Adaptive Follow-Up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55648" y="1078992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A6C43"/>
                </a:solidFill>
                <a:latin typeface="Plus Jakarta Sans"/>
              </a:rPr>
              <a:t>A bespoke follow-up, generated on the spot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566928"/>
            <a:ext cx="1005840" cy="384048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Plus Jakarta Sans"/>
              </a:rPr>
              <a:t>AI • LOCKED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0881360" cy="1234440"/>
          </a:xfrm>
          <a:prstGeom prst="rect">
            <a:avLst/>
          </a:prstGeom>
          <a:solidFill>
            <a:srgbClr val="FF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/>
            <a:r>
              <a:rPr sz="1100" b="1">
                <a:solidFill>
                  <a:srgbClr val="FA6C43"/>
                </a:solidFill>
                <a:latin typeface="Plus Jakarta Sans"/>
              </a:rPr>
              <a:t>USE CASE</a:t>
            </a:r>
          </a:p>
          <a:p>
            <a:r>
              <a:rPr sz="1500">
                <a:solidFill>
                  <a:srgbClr val="1F1F1F"/>
                </a:solidFill>
                <a:latin typeface="Plus Jakarta Sans"/>
              </a:rPr>
              <a:t>A vague open-text answer like “the product was fine” gets a tailored live follow-up — “What specifically made it just fine, not great?” — without the professor pre-writing every branch.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The generated question isn't a real Studio block — it only ever exists inside this instrument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862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F1F1F"/>
                </a:solidFill>
                <a:latin typeface="Plus Jakarta Sans"/>
              </a:rPr>
              <a:t>•  Captures both the generated question and the respondent's answer to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6B6B6B"/>
                </a:solidFill>
                <a:latin typeface="Plus Jakarta Sans"/>
              </a:rPr>
              <a:t>kind: measurement   |   applies to: any block   |   calls: /ai-instrument, live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A6C43"/>
                </a:solidFill>
                <a:latin typeface="Plus Jakarta Sans"/>
              </a:rPr>
              <a:t>AI • LOCKED = is_ai: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C8C8"/>
                </a:solidFill>
                <a:latin typeface="Plus Jakarta Sans"/>
              </a:rPr>
              <a:t>Shows the AI badge and a lock icon in the Studio ribbon. The paywall behind these blocks and instruments is currently visual-only — no real billing or entitlement enforcement exists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