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80360"/>
            <a:ext cx="548640" cy="54864"/>
          </a:xfrm>
          <a:prstGeom prst="rect">
            <a:avLst/>
          </a:prstGeom>
          <a:solidFill>
            <a:srgbClr val="FA6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Studio Instruments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8C8C8"/>
                </a:solidFill>
                <a:latin typeface="Calibri"/>
              </a:rPr>
              <a:t>17 instruments that attach to a block to measure or modify how a respondent experiences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6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Data Quality /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E9DF"/>
                </a:solidFill>
                <a:latin typeface="Calibri"/>
              </a:rPr>
              <a:t>6 instruments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A6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F1F"/>
                </a:solidFill>
                <a:latin typeface="Calibri"/>
              </a:rPr>
              <a:t>Attention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A6C43"/>
                </a:solidFill>
                <a:latin typeface="Calibri"/>
              </a:rPr>
              <a:t>Catches respondents who aren't reading carefully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Flags whether a Single Choice answer matches an expected “trap” 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Never blocks submission — a real attention check must let low-effort respondents through, or it defeats its own purpose as a data-quality 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39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Shows up only afterward, as a pass/fail metric in the results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B6B6B"/>
                </a:solidFill>
                <a:latin typeface="Calibri"/>
              </a:rPr>
              <a:t>kind: behavior   |   applies to: Single Choice   |   no config beyond the expected option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A6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F1F"/>
                </a:solidFill>
                <a:latin typeface="Calibri"/>
              </a:rPr>
              <a:t>Instructed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A6C43"/>
                </a:solidFill>
                <a:latin typeface="Calibri"/>
              </a:rPr>
              <a:t>A self-labeling compliance check, seamlessly embedded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Auto-appends a compliance sentence to an existing question's text at render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Unlike Attention Check, the professor doesn't hand-write the trap into a separate question — it rides along an existing item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39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Same never-blocks, flag-only-in-results contract as Attention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B6B6B"/>
                </a:solidFill>
                <a:latin typeface="Calibri"/>
              </a:rPr>
              <a:t>kind: behavior   |   applies to: Single Choice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A6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F1F"/>
                </a:solidFill>
                <a:latin typeface="Calibri"/>
              </a:rPr>
              <a:t>Speeder Flag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A6C43"/>
                </a:solidFill>
                <a:latin typeface="Calibri"/>
              </a:rPr>
              <a:t>Read-Time Gate's soft, measurement-only sibling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Flags a respondent who answered faster than a configurable threshold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Purely a results-view signal — never gates Submit, unlike Read-Time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39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Reads the same shown/submit event pair Reaction Timer already captures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B6B6B"/>
                </a:solidFill>
                <a:latin typeface="Calibri"/>
              </a:rPr>
              <a:t>kind: measurement   |   applies to: any block   |   config: threshold_seconds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A6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F1F"/>
                </a:solidFill>
                <a:latin typeface="Calibri"/>
              </a:rPr>
              <a:t>Read-Time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A6C43"/>
                </a:solidFill>
                <a:latin typeface="Calibri"/>
              </a:rPr>
              <a:t>Forces a minimum dwell time before Submit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Disables the Submit button until N seconds have elapsed since the block was shown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Shows a live countdown on the button while 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39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Enforced entirely client-side — a forged client only fools the respondent's own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B6B6B"/>
                </a:solidFill>
                <a:latin typeface="Calibri"/>
              </a:rPr>
              <a:t>kind: behavior   |   applies to: any block   |   config: seconds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A6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F1F"/>
                </a:solidFill>
                <a:latin typeface="Calibri"/>
              </a:rPr>
              <a:t>Option Randomizer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A6C43"/>
                </a:solidFill>
                <a:latin typeface="Calibri"/>
              </a:rPr>
              <a:t>Controls for option-order effects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Shuffles a Single Choice block's option order, seeded per respondent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Stable across reloads for one respondent, different across respondents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39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No config — just attach and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B6B6B"/>
                </a:solidFill>
                <a:latin typeface="Calibri"/>
              </a:rPr>
              <a:t>kind: behavior   |   applies to: Single Choice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A6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F1F"/>
                </a:solidFill>
                <a:latin typeface="Calibri"/>
              </a:rPr>
              <a:t>Subset Randomizer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A6C43"/>
                </a:solidFill>
                <a:latin typeface="Calibri"/>
              </a:rPr>
              <a:t>Qualtrics' “Randomize N of X,” built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Shows only a configurable count of a Single Choice block's options, picked per respondent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Distinct from Option Randomizer, which reorders every option but never drops any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39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Combines with Option Randomizer on the same block — subset first, then reorder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B6B6B"/>
                </a:solidFill>
                <a:latin typeface="Calibri"/>
              </a:rPr>
              <a:t>kind: behavior   |   applies to: Single Choice   |   config: count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6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E9DF"/>
                </a:solidFill>
                <a:latin typeface="Calibri"/>
              </a:rPr>
              <a:t>3 instruments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A6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F1F"/>
                </a:solidFill>
                <a:latin typeface="Calibri"/>
              </a:rPr>
              <a:t>Confidence Slider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A6C43"/>
                </a:solidFill>
                <a:latin typeface="Calibri"/>
              </a:rPr>
              <a:t>A secondary rating alongside any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Captures a 0–100 “how sure are you?” rating next to the block's own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Works on every block type — no restrictions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39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The template every other “capture a secondary value” instrument in Studio follows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B6B6B"/>
                </a:solidFill>
                <a:latin typeface="Calibri"/>
              </a:rPr>
              <a:t>kind: measurement   |   applies to: any block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A6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F1F"/>
                </a:solidFill>
                <a:latin typeface="Calibri"/>
              </a:rPr>
              <a:t>Reaction Timer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A6C43"/>
                </a:solidFill>
                <a:latin typeface="Calibri"/>
              </a:rPr>
              <a:t>Response latency as a data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Records milliseconds from when the block was shown to when it was submitted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The flagship instrument that proved out Studio's whole plugin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39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Powers Speeder Flag's threshold check under the hood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B6B6B"/>
                </a:solidFill>
                <a:latin typeface="Calibri"/>
              </a:rPr>
              <a:t>kind: measurement   |   applies to: any block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A6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F1F"/>
                </a:solidFill>
                <a:latin typeface="Calibri"/>
              </a:rPr>
              <a:t>Piped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A6C43"/>
                </a:solidFill>
                <a:latin typeface="Calibri"/>
              </a:rPr>
              <a:t>Qualtrics' Piped Text, natively in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Prefixes a block's question with a sibling block's live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A no-op until that sibling block is actually answered — nothing to pipe yet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39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Its config picker shows sibling blocks by question text, not raw 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B6B6B"/>
                </a:solidFill>
                <a:latin typeface="Calibri"/>
              </a:rPr>
              <a:t>kind: behavior   |   applies to: any block   |   config: source block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6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AI-Native — Free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E9DF"/>
                </a:solidFill>
                <a:latin typeface="Calibri"/>
              </a:rPr>
              <a:t>3 instruments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A6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F1F"/>
                </a:solidFill>
                <a:latin typeface="Calibri"/>
              </a:rPr>
              <a:t>Vocal Emotion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1320" y="566928"/>
            <a:ext cx="1005840" cy="38404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AI • LOCKED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A6C43"/>
                </a:solidFill>
                <a:latin typeface="Calibri"/>
              </a:rPr>
              <a:t>The respondent's dominant vocal emotion, for 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Averages Hume's per-turn prosody scores across every respondent turn in a voice conversation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Reports the single dominant emotion and its average intensity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39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Zero new API calls — purely a summary of data Voice Conversation already captured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035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B6B6B"/>
                </a:solidFill>
                <a:latin typeface="Calibri"/>
              </a:rPr>
              <a:t>kind: measurement   |   applies to: Voice Conversation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A6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F1F"/>
                </a:solidFill>
                <a:latin typeface="Calibri"/>
              </a:rPr>
              <a:t>Sentiment-Drift Tracker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1320" y="566928"/>
            <a:ext cx="1005840" cy="38404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AI • LOCKED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A6C43"/>
                </a:solidFill>
                <a:latin typeface="Calibri"/>
              </a:rPr>
              <a:t>How the conversation's mood moved, not just where it landed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Tracks the conversation's overall-dominant emotion from the first user turn to the last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A trend, not a snapshot — Vocal Emotion Trace's companion instrument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39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Compares the same emotion to itself over time, so it doesn't depend on Hume's exact taxonomy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035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B6B6B"/>
                </a:solidFill>
                <a:latin typeface="Calibri"/>
              </a:rPr>
              <a:t>kind: measurement   |   applies to: Voice Conversation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A6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F1F"/>
                </a:solidFill>
                <a:latin typeface="Calibri"/>
              </a:rPr>
              <a:t>Hesitation Detector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1320" y="566928"/>
            <a:ext cx="1005840" cy="38404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AI • LOCKED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A6C43"/>
                </a:solidFill>
                <a:latin typeface="Calibri"/>
              </a:rPr>
              <a:t>Filler-word counting, not a model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Counts filler words and hedges (“um,” “like,” “kind of”…) in the respondent's transcript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A plain regex, not an LLM call — marked AI because it's tied to the voice modality, not because it calls a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39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Reports both a raw count and a rate per 100 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035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B6B6B"/>
                </a:solidFill>
                <a:latin typeface="Calibri"/>
              </a:rPr>
              <a:t>kind: measurement   |   applies to: Voice Conversation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6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AI-Native — Tier 2 (results-time)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E9DF"/>
                </a:solidFill>
                <a:latin typeface="Calibri"/>
              </a:rPr>
              <a:t>2 instruments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A6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F1F"/>
                </a:solidFill>
                <a:latin typeface="Calibri"/>
              </a:rPr>
              <a:t>LLM Rubric Grader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1320" y="566928"/>
            <a:ext cx="1005840" cy="38404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AI • LOCKED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A6C43"/>
                </a:solidFill>
                <a:latin typeface="Calibri"/>
              </a:rPr>
              <a:t>Claude grades open text against your rubric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Scores a text answer against a professor-written rubric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Runs owner-side, when results are viewed — not during the respondent's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39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Result is cached on the response so re-opening results doesn't re-bill the same 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035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B6B6B"/>
                </a:solidFill>
                <a:latin typeface="Calibri"/>
              </a:rPr>
              <a:t>kind: measurement   |   applies to: Short Text, Long Text   |   model: Claude Haiku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A6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F1F"/>
                </a:solidFill>
                <a:latin typeface="Calibri"/>
              </a:rPr>
              <a:t>Cross-Answer Inconsistency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1320" y="566928"/>
            <a:ext cx="1005840" cy="38404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AI • LOCKED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A6C43"/>
                </a:solidFill>
                <a:latin typeface="Calibri"/>
              </a:rPr>
              <a:t>Catches respondents contradicting themselves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Flags whether this answer contradicts a chosen sibling block's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The picker shows sibling blocks by question text, same UX as Piped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39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Also cached after first computation — never re-billed on repeat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035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B6B6B"/>
                </a:solidFill>
                <a:latin typeface="Calibri"/>
              </a:rPr>
              <a:t>kind: measurement   |   applies to: any block   |   model: Claude Haiku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6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AI-Native — Tier 3 (live, mid-session)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E9DF"/>
                </a:solidFill>
                <a:latin typeface="Calibri"/>
              </a:rPr>
              <a:t>3 instruments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A6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F1F"/>
                </a:solidFill>
                <a:latin typeface="Calibri"/>
              </a:rPr>
              <a:t>Comprehension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1320" y="566928"/>
            <a:ext cx="1005840" cy="38404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AI • LOCKED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A6C43"/>
                </a:solidFill>
                <a:latin typeface="Calibri"/>
              </a:rPr>
              <a:t>Makes sure they understood the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Respondent paraphrases the question in their own words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Claude scores how faithfully the paraphrase captures the question's meaning,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39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Feedback shown immediately — never blocks Submit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035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B6B6B"/>
                </a:solidFill>
                <a:latin typeface="Calibri"/>
              </a:rPr>
              <a:t>kind: measurement   |   applies to: any block   |   calls: /ai-instrument, live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A6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F1F"/>
                </a:solidFill>
                <a:latin typeface="Calibri"/>
              </a:rPr>
              <a:t>AI Devil's Advocate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1320" y="566928"/>
            <a:ext cx="1005840" cy="38404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AI • LOCKED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A6C43"/>
                </a:solidFill>
                <a:latin typeface="Calibri"/>
              </a:rPr>
              <a:t>Tests how firmly a respondent holds their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Claude generates a one-shot, respectful counterargument to the respondent's stated 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Captures a post-rebuttal confidence rating on the same 0–100 slider as Confidence Slider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39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The rebuttal is generated live, tailored to what the respondent actually said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035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B6B6B"/>
                </a:solidFill>
                <a:latin typeface="Calibri"/>
              </a:rPr>
              <a:t>kind: measurement   |   applies to: any block   |   calls: /ai-instrument, live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A6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F1F"/>
                </a:solidFill>
                <a:latin typeface="Calibri"/>
              </a:rPr>
              <a:t>Adaptive Follow-Up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1320" y="566928"/>
            <a:ext cx="1005840" cy="38404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AI • LOCKED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A6C43"/>
                </a:solidFill>
                <a:latin typeface="Calibri"/>
              </a:rPr>
              <a:t>A bespoke follow-up question, generated on the spot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Claude writes one specific follow-up question that digs into what the respondent just said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The generated question isn't a real Studio block — it only ever exists inside this instrument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39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1F1F"/>
                </a:solidFill>
                <a:latin typeface="Calibri"/>
              </a:rPr>
              <a:t>•  Captures both the generated question and the respondent's answer to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035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B6B6B"/>
                </a:solidFill>
                <a:latin typeface="Calibri"/>
              </a:rPr>
              <a:t>kind: measurement   |   applies to: any block   |   calls: /ai-instrument, live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A6C43"/>
                </a:solidFill>
                <a:latin typeface="Calibri"/>
              </a:rPr>
              <a:t>AI • LOCKED = is_ai: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56616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C8C8"/>
                </a:solidFill>
                <a:latin typeface="Calibri"/>
              </a:rPr>
              <a:t>Shows the AI badge and a lock icon in the Studio ribbon. The paywall behind these instruments is currently visual-only — no real billing or entitlement enforcement exists yet.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